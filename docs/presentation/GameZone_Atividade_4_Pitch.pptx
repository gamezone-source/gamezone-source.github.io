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ENZO — 15 segundos
Olá, nós somos a equipe GameZone. O projeto foi criado para o Enterprise Challenge da Palo Alto Networks a partir de um problema comum entre jogadores: encontrar reviews úteis e um espaço confiável para conversar sobre games. Vamos mostrar o produto funcionando. O repositório está neste slide e o link do vídeo deve ser adicionado depois da publicação.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 — 20 segundos
O problema é a falta de uma comunidade confiável para reviews honestos e discussões saudáveis. Nesta entrega, concluímos o primeiro núcleo da solução: uma plataforma que organiza informações, mostra os critérios das avaliações e ajuda o usuário a decidir. O fórum completo ainda é uma evolução futura, mas a experiência de reviews e descoberta já funciona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 — 1 minuto
[ABRIR O GAMEZONE E FAZER A DEMONSTRAÇÃO AO VIVO]
Na página de reviews, o usuário pesquisa diretamente pelo nome do jogo. Vou buscar um título e depois limpar a busca para mostrar os filtros.
Também podemos combinar gênero, plataforma e faixa de preço. O resultado muda na hora e o contador mostra quantas reviews foram encontradas. Se a busca ficar restrita demais, é possível limpar os filtros.
Por fim, podemos ordenar por nota, data ou título e alternar entre cards e lista. Depois de comparar as opções, vamos abrir uma review completa para entender a avaliação.
[PLANO B: se a navegação falhar, mostrar a captura deste slide e descrever a sequência acima.]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— 1 minuto e 30 segundos
[CONTINUAR A DEMONSTRAÇÃO AO VIVO]
Na review detalhada, a nota não aparece sozinha. O usuário vê resumo, preço, plataformas, prós, contras e critérios como gameplay, narrativa, visual, som e custo-benefício. Cada critério tem peso próprio, então fica claro de onde vem o resultado.
Agora vamos para a área de descoberta. Vou salvar alguns jogos no radar. Os favoritos ficam registrados no próprio navegador e as sugestões são recalculadas. O sistema considera principalmente os gêneros escolhidos e usa a nota editorial como apoio para ordenar os resultados.
O diferencial é explicar o motivo. Em vez de apenas dizer que o usuário pode gostar de um jogo, o GameZone informa a proximidade de gênero, a nota usada e quando o preço contribui para o custo-benefício.
Hoje, essa recomendação usa regras transparentes. No futuro, uma camada de inteligência artificial poderá aprender preferências mais complexas sem esconder por que uma sugestão apareceu.
[PLANO B: usar as duas capturas deste slide e apontar os critérios e a área de descoberta.]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ENZO — 35 segundos
O produto foi reconstruído com Next.js, React e Tailwind. As reviews são produzidas pela equipe e ficam disponíveis em um endpoint público para consumo por outros clientes.
Hoje, o formulário valida formato e tamanho dos campos, e os favoritos permanecem no navegador. Ainda não existe autenticação nem banco de dados; por isso, controles de acesso e proteção contra SQL Injection não são apresentados como prontos.
A próxima camada prevê contas seguras, prevenção de Broken Access Control, consultas parametrizadas, personalização por IA e chatbot de suporte.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 — 25 segundos
O produto está concluído dentro do escopo porque o fluxo principal funciona de ponta a ponta: o usuário encontra jogos, compara informações, abre análises, salva favoritos e recebe sugestões justificadas.
Os limites também estão claros. Fórum, contas, moderação, chatbot e parcerias formam a evolução do GameZone e dependem de backend e segurança adequados. Assim, o que apresentamos corresponde ao que conseguimos demonstrar.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GUILHERME — 25 segundos
Nossa equipe é formada por Enzo Furlan, Gabriel Camara da Silva, Gustavo Aiello Ribeiro Amado e Guilherme Ribeiro Rosa. Os RMs estão neste slide.
Sobre o NEXT 2026, o grupo não deseja participar como expositor presencial.
O GameZone transforma conteúdo editorial próprio em decisões mais claras e cria uma base que pode evoluir para uma comunidade segura, transparente e saudável.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MEZONE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732520" y="256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80" kern="0" dirty="0">
                <a:solidFill>
                  <a:srgbClr val="8C9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CHALLENGE · ATIVIDADE 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meZone-source/GameZone-source.github.io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0"/>
            <a:ext cx="5029200" cy="5029200"/>
          </a:xfrm>
          <a:prstGeom prst="ellipse">
            <a:avLst/>
          </a:prstGeom>
          <a:solidFill>
            <a:srgbClr val="8854F6">
              <a:alpha val="20000"/>
            </a:srgbClr>
          </a:solidFill>
          <a:ln w="12700">
            <a:solidFill>
              <a:srgbClr val="885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2880360"/>
            <a:ext cx="3200400" cy="3200400"/>
          </a:xfrm>
          <a:prstGeom prst="ellipse">
            <a:avLst/>
          </a:prstGeom>
          <a:solidFill>
            <a:srgbClr val="20D9FF">
              <a:alpha val="16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9326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 ALTO NETWORKS · FIAP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30759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GameZone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honestos. Decisões melhores.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71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do produto · Enterprise Challenge · Atividade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20E3A2">
              <a:alpha val="13000"/>
            </a:srgbClr>
          </a:solidFill>
          <a:ln w="12700">
            <a:solidFill>
              <a:srgbClr val="20E3A2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74136"/>
            <a:ext cx="1417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E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FUNCIONAL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95728" y="3310128"/>
            <a:ext cx="2057400" cy="310896"/>
          </a:xfrm>
          <a:prstGeom prst="roundRect">
            <a:avLst>
              <a:gd name="adj" fmla="val 23529"/>
            </a:avLst>
          </a:prstGeom>
          <a:solidFill>
            <a:srgbClr val="20D9FF">
              <a:alpha val="13000"/>
            </a:srgbClr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3374136"/>
            <a:ext cx="1874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PONTA A PONTA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03720" y="1097280"/>
            <a:ext cx="4617720" cy="4535424"/>
          </a:xfrm>
          <a:prstGeom prst="roundRect">
            <a:avLst>
              <a:gd name="adj" fmla="val 1613"/>
            </a:avLst>
          </a:prstGeom>
          <a:solidFill>
            <a:srgbClr val="111126">
              <a:alpha val="97000"/>
            </a:srgbClr>
          </a:solidFill>
          <a:ln w="13970">
            <a:solidFill>
              <a:srgbClr val="2A2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14813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À ENTREGA</a:t>
            </a:r>
            <a:endParaRPr lang="en-US" sz="900" dirty="0"/>
          </a:p>
        </p:txBody>
      </p:sp>
      <p:pic>
        <p:nvPicPr>
          <p:cNvPr id="14" name="Image 0" descr="/home/teste/Desktop/FIAP/GameZone-source.github.io/presentation-assets/github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08" y="1463040"/>
            <a:ext cx="1536192" cy="153619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51192" y="198424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Código-fonte</a:t>
            </a:r>
            <a:endParaRPr lang="en-US" sz="1200" dirty="0"/>
          </a:p>
        </p:txBody>
      </p:sp>
      <p:sp>
        <p:nvSpPr>
          <p:cNvPr id="16" name="Text 13">
            <a:hlinkClick r:id="rId2" tooltip=""/>
          </p:cNvPr>
          <p:cNvSpPr/>
          <p:nvPr/>
        </p:nvSpPr>
        <p:spPr>
          <a:xfrm>
            <a:off x="7251192" y="234086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u="sng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github.com/GameZone-source/</a:t>
            </a:r>
            <a:endParaRPr lang="en-US" sz="940" dirty="0"/>
          </a:p>
          <a:p>
            <a:pPr indent="0" marL="0">
              <a:buNone/>
            </a:pPr>
            <a:r>
              <a:rPr lang="en-US" sz="940" u="sng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GameZone-source.github.io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7251192" y="3246120"/>
            <a:ext cx="3703320" cy="0"/>
          </a:xfrm>
          <a:prstGeom prst="line">
            <a:avLst/>
          </a:prstGeom>
          <a:noFill/>
          <a:ln w="12700">
            <a:solidFill>
              <a:srgbClr val="2A2B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51192" y="35753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pitch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51192" y="39410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o link após publicar o vídeo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“não listado” no YouTube.</a:t>
            </a:r>
            <a:endParaRPr lang="en-US" sz="1030" dirty="0"/>
          </a:p>
        </p:txBody>
      </p:sp>
      <p:sp>
        <p:nvSpPr>
          <p:cNvPr id="20" name="Text 17"/>
          <p:cNvSpPr/>
          <p:nvPr/>
        </p:nvSpPr>
        <p:spPr>
          <a:xfrm>
            <a:off x="640080" y="614476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Equipe: Enzo · Gabriel · Gustavo · Guilherme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PONTO DE PARTIDA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decisão simples ficou difícil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espalhada, opiniões pouco transparentes e comunidades com discussões de baixa qualidade.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468880"/>
            <a:ext cx="1170432" cy="1051560"/>
          </a:xfrm>
          <a:prstGeom prst="ellipse">
            <a:avLst/>
          </a:prstGeom>
          <a:solidFill>
            <a:srgbClr val="20D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167128" y="2441448"/>
            <a:ext cx="3794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 um jogo sem depender de hype?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510528" y="2286000"/>
            <a:ext cx="2331720" cy="2084832"/>
          </a:xfrm>
          <a:prstGeom prst="roundRect">
            <a:avLst>
              <a:gd name="adj" fmla="val 3509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11696" y="2487168"/>
            <a:ext cx="384048" cy="384048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11696" y="25694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214616" y="2505456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com critério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18196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Notas, pesos, prós, contras, preço e plataformas em uma leitura comparável.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2560" y="2286000"/>
            <a:ext cx="2331720" cy="2084832"/>
          </a:xfrm>
          <a:prstGeom prst="roundRect">
            <a:avLst>
              <a:gd name="adj" fmla="val 3509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53728" y="2487168"/>
            <a:ext cx="384048" cy="384048"/>
          </a:xfrm>
          <a:prstGeom prst="ellipse">
            <a:avLst/>
          </a:prstGeom>
          <a:solidFill>
            <a:srgbClr val="8854F6"/>
          </a:solidFill>
          <a:ln w="12700">
            <a:solidFill>
              <a:srgbClr val="885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3728" y="25694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756648" y="2505456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Descoberta explicável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08592" y="2926080"/>
            <a:ext cx="18196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usuário entende por que cada jogo entrou no radar, sem uma recomendação opaca.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4818888"/>
            <a:ext cx="10735056" cy="1005840"/>
          </a:xfrm>
          <a:prstGeom prst="roundRect">
            <a:avLst>
              <a:gd name="adj" fmla="val 5455"/>
            </a:avLst>
          </a:prstGeom>
          <a:solidFill>
            <a:srgbClr val="171733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5074920"/>
            <a:ext cx="1691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VALOR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61488" y="498348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Ajudar o jogador a comparar melhor agora e criar a base para uma comunidade gamer mais confiável.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1 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catálogo ao jogo certo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maior parte do pitch acontece dentro do produto: pesquisa, filtros e comparação em um fluxo real.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9496" y="2157984"/>
            <a:ext cx="7772400" cy="4023360"/>
          </a:xfrm>
          <a:prstGeom prst="roundRect">
            <a:avLst>
              <a:gd name="adj" fmla="val 1364"/>
            </a:avLst>
          </a:prstGeom>
          <a:solidFill>
            <a:srgbClr val="171733"/>
          </a:solidFill>
          <a:ln w="13970">
            <a:solidFill>
              <a:srgbClr val="2A2B4B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teste/Desktop/FIAP/GameZone-source.github.io/presentation-assets/re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12848"/>
            <a:ext cx="7662672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2212848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869680" y="2414016"/>
            <a:ext cx="384048" cy="384048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249631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372600" y="2432304"/>
            <a:ext cx="1673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Pesquisar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24544" y="285292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 um título pelo nome.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68512" y="3401568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69680" y="3602736"/>
            <a:ext cx="384048" cy="384048"/>
          </a:xfrm>
          <a:prstGeom prst="ellipse">
            <a:avLst/>
          </a:prstGeom>
          <a:solidFill>
            <a:srgbClr val="8854F6"/>
          </a:solidFill>
          <a:ln w="12700">
            <a:solidFill>
              <a:srgbClr val="885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36850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9372600" y="3621024"/>
            <a:ext cx="1673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Refinar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924544" y="404164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 gênero, plataforma e preço.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68512" y="4590288"/>
            <a:ext cx="2578608" cy="987552"/>
          </a:xfrm>
          <a:prstGeom prst="roundRect">
            <a:avLst>
              <a:gd name="adj" fmla="val 7407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869680" y="4791456"/>
            <a:ext cx="384048" cy="384048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69680" y="487375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372600" y="4809744"/>
            <a:ext cx="1673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Comparar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24544" y="523036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Alterne entre cards e lista.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226296" y="5833872"/>
            <a:ext cx="1444752" cy="310896"/>
          </a:xfrm>
          <a:prstGeom prst="roundRect">
            <a:avLst>
              <a:gd name="adj" fmla="val 23529"/>
            </a:avLst>
          </a:prstGeom>
          <a:solidFill>
            <a:srgbClr val="FF6684">
              <a:alpha val="13000"/>
            </a:srgbClr>
          </a:solidFill>
          <a:ln w="12700">
            <a:solidFill>
              <a:srgbClr val="FF6684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17736" y="5897880"/>
            <a:ext cx="1261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· 2 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análise ao radar personalizado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transparentes ajudam a decidir; favoritos recalculam sugestões e mostram o motivo de cada indicação.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9496" y="2212848"/>
            <a:ext cx="5340096" cy="3429000"/>
          </a:xfrm>
          <a:prstGeom prst="roundRect">
            <a:avLst>
              <a:gd name="adj" fmla="val 1600"/>
            </a:avLst>
          </a:prstGeom>
          <a:solidFill>
            <a:srgbClr val="171733"/>
          </a:solidFill>
          <a:ln w="13970">
            <a:solidFill>
              <a:srgbClr val="2A2B4B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6" name="Image 0" descr="/home/teste/Desktop/FIAP/GameZone-source.github.io/presentation-assets/review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67712"/>
            <a:ext cx="5230368" cy="33192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91072" y="2212848"/>
            <a:ext cx="5340096" cy="3429000"/>
          </a:xfrm>
          <a:prstGeom prst="roundRect">
            <a:avLst>
              <a:gd name="adj" fmla="val 1600"/>
            </a:avLst>
          </a:prstGeom>
          <a:solidFill>
            <a:srgbClr val="171733"/>
          </a:solidFill>
          <a:ln w="13970">
            <a:solidFill>
              <a:srgbClr val="2A2B4B"/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8" name="Image 1" descr="/home/teste/Desktop/FIAP/GameZone-source.github.io/presentation-assets/discov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267712"/>
            <a:ext cx="5230368" cy="33192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76272" y="58338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20D9FF">
              <a:alpha val="13000"/>
            </a:srgbClr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267712" y="589788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DETALHADA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7818120" y="5833872"/>
            <a:ext cx="2267712" cy="310896"/>
          </a:xfrm>
          <a:prstGeom prst="roundRect">
            <a:avLst>
              <a:gd name="adj" fmla="val 23529"/>
            </a:avLst>
          </a:prstGeom>
          <a:solidFill>
            <a:srgbClr val="8854F6">
              <a:alpha val="13000"/>
            </a:srgbClr>
          </a:solidFill>
          <a:ln w="12700">
            <a:solidFill>
              <a:srgbClr val="8854F6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09560" y="5897880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5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EXPLICÁVEL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PRODUTO SE SUSTENTA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clara, dados abertos e evolução responsável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funciona hoje aparece separado do que exige backend, autenticação e novos controles.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267712"/>
            <a:ext cx="3401568" cy="1847088"/>
          </a:xfrm>
          <a:prstGeom prst="roundRect">
            <a:avLst>
              <a:gd name="adj" fmla="val 3960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48716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web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90779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responsiva e publicada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2267712"/>
            <a:ext cx="3401568" cy="1847088"/>
          </a:xfrm>
          <a:prstGeom prst="roundRect">
            <a:avLst>
              <a:gd name="adj" fmla="val 3960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48716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próprias, API pública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45152" y="290779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produzido pela equipe e disponibilizado em: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/api/reviews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56448" y="2267712"/>
            <a:ext cx="3401568" cy="1847088"/>
          </a:xfrm>
          <a:prstGeom prst="roundRect">
            <a:avLst>
              <a:gd name="adj" fmla="val 3960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487168"/>
            <a:ext cx="2944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atuais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907792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campos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de tamanho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favoritos mantidos localmente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4498848"/>
            <a:ext cx="10936224" cy="1353312"/>
          </a:xfrm>
          <a:prstGeom prst="roundRect">
            <a:avLst>
              <a:gd name="adj" fmla="val 4054"/>
            </a:avLst>
          </a:prstGeom>
          <a:solidFill>
            <a:srgbClr val="171733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7914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6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CAMADA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51760" y="4709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contas seguras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68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57800" y="470916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e SQL Injection no modelo de ameaças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57032" y="4681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85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68512" y="4709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para personalização e suporte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" y="52852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prometer recursos que ainda não estão implementados.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CONCLUÍDO DENTRO DO ESCOPO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base funcional, com limites declarados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núcleo de reviews e descoberta está pronto; comunidade, contas e moderação formam a evolução planejada.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2402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11126"/>
          </a:solidFill>
          <a:ln w="15240">
            <a:solidFill>
              <a:srgbClr val="20E3A2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20E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" y="3008376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026664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252728" y="29900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reviews próprias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" y="3401568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419856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252728" y="33832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Busca, filtros e comparação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0976" y="3794760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813048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252728" y="377647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por critérios e pesos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" y="4187952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206240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252728" y="41696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Favoritos e recomendações explicadas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0976" y="4581144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599432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252728" y="45628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público de reviews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" y="4974336"/>
            <a:ext cx="173736" cy="173736"/>
          </a:xfrm>
          <a:prstGeom prst="ellipse">
            <a:avLst/>
          </a:prstGeom>
          <a:solidFill>
            <a:srgbClr val="20E3A2"/>
          </a:solidFill>
          <a:ln w="12700">
            <a:solidFill>
              <a:srgbClr val="20E3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992624"/>
            <a:ext cx="173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252728" y="49560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responsivo publicado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24028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11126"/>
          </a:solidFill>
          <a:ln w="15240">
            <a:solidFill>
              <a:srgbClr val="8854F6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5786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85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47688" y="30083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41464" y="29900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 contas seguras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47688" y="34655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41464" y="3447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Fórum e perfis da comunidade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7688" y="39227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41464" y="3904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Moderação e discussões saudáveis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47688" y="43799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41464" y="4361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para personalização e chatbot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47688" y="483717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41464" y="48188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com lojas de jogos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GAMEZONE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integrantes, uma entrega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636776"/>
            <a:ext cx="10424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A8AD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está apto para concluir o Enterprise Challenge, mas não deseja participar como expositor do NEXT 2026.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24028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41448"/>
            <a:ext cx="585216" cy="585216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6243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09344" y="24780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Enzo Furlan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9344" y="28254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255795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24028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45936" y="2441448"/>
            <a:ext cx="585216" cy="585216"/>
          </a:xfrm>
          <a:prstGeom prst="ellipse">
            <a:avLst/>
          </a:prstGeom>
          <a:solidFill>
            <a:srgbClr val="8854F6"/>
          </a:solidFill>
          <a:ln w="12700">
            <a:solidFill>
              <a:srgbClr val="885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5936" y="262432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14032" y="24780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Camara da Silva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14032" y="28254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573006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47472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675888"/>
            <a:ext cx="585216" cy="585216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587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609344" y="37124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Gustavo Aiello Ribeiro Amado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9344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568935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3474720"/>
            <a:ext cx="5230368" cy="987552"/>
          </a:xfrm>
          <a:prstGeom prst="roundRect">
            <a:avLst>
              <a:gd name="adj" fmla="val 5556"/>
            </a:avLst>
          </a:prstGeom>
          <a:solidFill>
            <a:srgbClr val="111126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45936" y="3675888"/>
            <a:ext cx="585216" cy="585216"/>
          </a:xfrm>
          <a:prstGeom prst="ellipse">
            <a:avLst/>
          </a:prstGeom>
          <a:solidFill>
            <a:srgbClr val="8854F6"/>
          </a:solidFill>
          <a:ln w="12700">
            <a:solidFill>
              <a:srgbClr val="885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5936" y="38587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07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14032" y="37124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Guilherme Ribeiro Rosa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40599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572619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" y="4965192"/>
            <a:ext cx="10753344" cy="1005840"/>
          </a:xfrm>
          <a:prstGeom prst="roundRect">
            <a:avLst>
              <a:gd name="adj" fmla="val 5455"/>
            </a:avLst>
          </a:prstGeom>
          <a:solidFill>
            <a:srgbClr val="171733"/>
          </a:solidFill>
          <a:ln w="12700">
            <a:solidFill>
              <a:srgbClr val="2A2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5239512"/>
            <a:ext cx="10085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GameZone transforma reviews próprias em decisões mais claras e cria uma base confiável para a próxima geração de comunidades gamers.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455664"/>
            <a:ext cx="292608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C718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GameZone — Pitch do produto</dc:title>
  <dc:subject>Enterprise Challenge — Atividade 4</dc:subject>
  <dc:creator>Equipe GameZone</dc:creator>
  <cp:lastModifiedBy>Equipe GameZone</cp:lastModifiedBy>
  <cp:revision>1</cp:revision>
  <dcterms:created xsi:type="dcterms:W3CDTF">2026-09-10T21:42:12Z</dcterms:created>
  <dcterms:modified xsi:type="dcterms:W3CDTF">2026-09-10T21:42:12Z</dcterms:modified>
</cp:coreProperties>
</file>